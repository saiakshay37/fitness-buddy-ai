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9"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B6D282-38F0-426D-9BCD-86091A21AD17}" type="datetimeFigureOut">
              <a:rPr lang="en-IN" smtClean="0"/>
              <a:t>04-07-2026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DB4E2C-DA86-456B-84A1-1C12AE2514EC}" type="slidenum">
              <a:rPr lang="en-IN" smtClean="0"/>
              <a:t>‹#›</a:t>
            </a:fld>
            <a:endParaRPr lang="en-IN"/>
          </a:p>
        </p:txBody>
      </p:sp>
    </p:spTree>
    <p:extLst>
      <p:ext uri="{BB962C8B-B14F-4D97-AF65-F5344CB8AC3E}">
        <p14:creationId xmlns:p14="http://schemas.microsoft.com/office/powerpoint/2010/main" val="3724215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DB4E2C-DA86-456B-84A1-1C12AE2514EC}" type="slidenum">
              <a:rPr lang="en-IN" smtClean="0"/>
              <a:t>4</a:t>
            </a:fld>
            <a:endParaRPr lang="en-IN"/>
          </a:p>
        </p:txBody>
      </p:sp>
    </p:spTree>
    <p:extLst>
      <p:ext uri="{BB962C8B-B14F-4D97-AF65-F5344CB8AC3E}">
        <p14:creationId xmlns:p14="http://schemas.microsoft.com/office/powerpoint/2010/main" val="3294433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9A06-C87D-E5E0-3D89-3EE96B1AB2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33AC57-F0DE-67E8-8DFE-1B16C31B83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6C5F0A-CAB6-270A-1BB8-D0FA878CA080}"/>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5" name="Footer Placeholder 4">
            <a:extLst>
              <a:ext uri="{FF2B5EF4-FFF2-40B4-BE49-F238E27FC236}">
                <a16:creationId xmlns:a16="http://schemas.microsoft.com/office/drawing/2014/main" id="{3A29D310-AC44-6359-EC61-11DC09E71A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895BD-F010-7179-11E5-EFE98A84B73E}"/>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362233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4A168-B43C-24EA-6FC2-AA119E5BB3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BCCB9B-0676-5C3F-89A1-5DE8FA7C90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8076A9-5553-27B8-2558-F761F8BE23B7}"/>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5" name="Footer Placeholder 4">
            <a:extLst>
              <a:ext uri="{FF2B5EF4-FFF2-40B4-BE49-F238E27FC236}">
                <a16:creationId xmlns:a16="http://schemas.microsoft.com/office/drawing/2014/main" id="{7AA4A733-6C6D-DD89-590F-F26BD5A237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26B17F-F639-B7C0-BFBF-7769ECC2E9F3}"/>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2848641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C6C1E-BE4E-100F-E063-FE9A7FB0C9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8F4478-4478-2384-7D12-3FB46140D2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325302-9779-1173-B28A-7FDDC018B973}"/>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5" name="Footer Placeholder 4">
            <a:extLst>
              <a:ext uri="{FF2B5EF4-FFF2-40B4-BE49-F238E27FC236}">
                <a16:creationId xmlns:a16="http://schemas.microsoft.com/office/drawing/2014/main" id="{A9D7A1F9-9691-C72A-CA44-2646A61626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9B3F28-3A94-932A-13D3-C4FF3F480E33}"/>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2839364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3F5ED-E925-D4AF-56A7-B2CF334141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CE99AF-93C9-97D1-DB28-5C1A5E261D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A75A37-A577-A8BC-1C19-31370FD44B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59066C-C0FA-9CAC-6D36-6852C7FBBB23}"/>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6" name="Footer Placeholder 5">
            <a:extLst>
              <a:ext uri="{FF2B5EF4-FFF2-40B4-BE49-F238E27FC236}">
                <a16:creationId xmlns:a16="http://schemas.microsoft.com/office/drawing/2014/main" id="{C0CC56EF-84AF-BACE-9B30-993AAC240E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30AD47-AEE3-805F-CE54-2597D055217F}"/>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440077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A9AA3-98A6-C214-3A40-28B3119FF2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DC394A-F1DF-B7A5-0D06-70DEA941F4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E8FCCB-14CA-ACD5-A03D-410F953A0D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45C8F3-C69B-0CAA-FDBA-3C2898FF35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C5D72B-426C-D7CD-E656-5CA514CCB0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5AA36C-B265-926A-DE55-89F5C897C072}"/>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8" name="Footer Placeholder 7">
            <a:extLst>
              <a:ext uri="{FF2B5EF4-FFF2-40B4-BE49-F238E27FC236}">
                <a16:creationId xmlns:a16="http://schemas.microsoft.com/office/drawing/2014/main" id="{411C7B8A-FCD3-6142-0F6C-B3F659A4BE9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B6C40E-359F-F67D-BEA4-1649A24D36FB}"/>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346372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D2D44-A561-CD55-BCC7-0A260AC246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5BD88A-319C-57DC-80E9-2845CD56A89A}"/>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4" name="Footer Placeholder 3">
            <a:extLst>
              <a:ext uri="{FF2B5EF4-FFF2-40B4-BE49-F238E27FC236}">
                <a16:creationId xmlns:a16="http://schemas.microsoft.com/office/drawing/2014/main" id="{773C8CF9-B61B-A104-F56F-774685E1BC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0033EC-0D3B-CF48-FCAB-5B1DFC7768DB}"/>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727028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493BD-CAF8-A62B-35F0-A4DB3A67C68A}"/>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3" name="Footer Placeholder 2">
            <a:extLst>
              <a:ext uri="{FF2B5EF4-FFF2-40B4-BE49-F238E27FC236}">
                <a16:creationId xmlns:a16="http://schemas.microsoft.com/office/drawing/2014/main" id="{415213B2-9654-7869-CEE4-8E42F8BF5E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888E0C-B6CC-E29B-D017-010BFFC76B8B}"/>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59786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6904-0298-78C1-CD8F-9239CA3CF8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B827D3-B799-E601-1ABF-CE391BD70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2B0211-483F-D12E-7789-F45CAB567C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BD5602-D020-A903-AC85-07F793DC861C}"/>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6" name="Footer Placeholder 5">
            <a:extLst>
              <a:ext uri="{FF2B5EF4-FFF2-40B4-BE49-F238E27FC236}">
                <a16:creationId xmlns:a16="http://schemas.microsoft.com/office/drawing/2014/main" id="{59E9B083-250D-EB48-5BD5-365838521E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7A2CF8-F671-D165-2023-E5C67FE02B13}"/>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105180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3A5BD-E834-8BCA-D05E-E865E79E30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0D5B13-B567-7377-7564-0D01209101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7E0187-B4D3-67D5-7F93-D76BC4324C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9EE71A-073B-1E2B-42C5-F009ED0CF6F6}"/>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6" name="Footer Placeholder 5">
            <a:extLst>
              <a:ext uri="{FF2B5EF4-FFF2-40B4-BE49-F238E27FC236}">
                <a16:creationId xmlns:a16="http://schemas.microsoft.com/office/drawing/2014/main" id="{88298CCC-E12C-5002-99D4-FC927B7140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29A0A8-8217-DDB7-5741-ACADD128D592}"/>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473294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5F10F-6CA2-1C33-FA3C-A301FF53DF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B75611-7293-5530-82FF-9C6E185AF7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60AFB6-7EE1-87C3-A60C-BF91778B6F48}"/>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5" name="Footer Placeholder 4">
            <a:extLst>
              <a:ext uri="{FF2B5EF4-FFF2-40B4-BE49-F238E27FC236}">
                <a16:creationId xmlns:a16="http://schemas.microsoft.com/office/drawing/2014/main" id="{8165D968-430D-6DD9-088C-D23CD2C3EC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A19C2C-79DE-FA62-C2D7-402812BB1ECD}"/>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77975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D9E8D0-95A0-085B-7AE9-E79E33B073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6DAAE7-EB8C-023C-FFA6-E34FBB65C4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5E3499-F84C-1120-AAD4-E5A465417F6F}"/>
              </a:ext>
            </a:extLst>
          </p:cNvPr>
          <p:cNvSpPr>
            <a:spLocks noGrp="1"/>
          </p:cNvSpPr>
          <p:nvPr>
            <p:ph type="dt" sz="half" idx="10"/>
          </p:nvPr>
        </p:nvSpPr>
        <p:spPr/>
        <p:txBody>
          <a:bodyPr/>
          <a:lstStyle/>
          <a:p>
            <a:fld id="{C03684FF-9910-42C0-B047-E1367BBA2C66}" type="datetimeFigureOut">
              <a:rPr lang="en-IN" smtClean="0"/>
              <a:t>04-07-2026</a:t>
            </a:fld>
            <a:endParaRPr lang="en-IN"/>
          </a:p>
        </p:txBody>
      </p:sp>
      <p:sp>
        <p:nvSpPr>
          <p:cNvPr id="5" name="Footer Placeholder 4">
            <a:extLst>
              <a:ext uri="{FF2B5EF4-FFF2-40B4-BE49-F238E27FC236}">
                <a16:creationId xmlns:a16="http://schemas.microsoft.com/office/drawing/2014/main" id="{2FCF5C99-6F54-27F0-93C0-E375325224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C209D0-2DC9-2F64-2D85-36D6ED12AD8E}"/>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350850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C506C-8840-9CFF-4BB5-EBDAF5DE24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ABA100-30F8-D708-636F-7E0FFD69D6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DE0F13-CF5D-70BE-90BA-8A6317949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3684FF-9910-42C0-B047-E1367BBA2C66}" type="datetimeFigureOut">
              <a:rPr lang="en-IN" smtClean="0"/>
              <a:t>04-07-2026</a:t>
            </a:fld>
            <a:endParaRPr lang="en-IN"/>
          </a:p>
        </p:txBody>
      </p:sp>
      <p:sp>
        <p:nvSpPr>
          <p:cNvPr id="5" name="Footer Placeholder 4">
            <a:extLst>
              <a:ext uri="{FF2B5EF4-FFF2-40B4-BE49-F238E27FC236}">
                <a16:creationId xmlns:a16="http://schemas.microsoft.com/office/drawing/2014/main" id="{5EC38BFE-681A-757E-93C7-64D765D9DC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17D1D7C-996F-31BF-2E91-A712D7785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05AD34-8A49-4F07-A012-21C70093BE72}" type="slidenum">
              <a:rPr lang="en-IN" smtClean="0"/>
              <a:t>‹#›</a:t>
            </a:fld>
            <a:endParaRPr lang="en-IN"/>
          </a:p>
        </p:txBody>
      </p:sp>
    </p:spTree>
    <p:extLst>
      <p:ext uri="{BB962C8B-B14F-4D97-AF65-F5344CB8AC3E}">
        <p14:creationId xmlns:p14="http://schemas.microsoft.com/office/powerpoint/2010/main" val="437526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338EBC-2451-398A-3587-44F9C1833664}"/>
              </a:ext>
            </a:extLst>
          </p:cNvPr>
          <p:cNvSpPr>
            <a:spLocks noGrp="1"/>
          </p:cNvSpPr>
          <p:nvPr>
            <p:ph type="ctrTitle"/>
          </p:nvPr>
        </p:nvSpPr>
        <p:spPr>
          <a:xfrm>
            <a:off x="1524000" y="1669118"/>
            <a:ext cx="9144000" cy="2387600"/>
          </a:xfrm>
        </p:spPr>
        <p:txBody>
          <a:bodyPr>
            <a:normAutofit/>
          </a:bodyPr>
          <a:lstStyle/>
          <a:p>
            <a:r>
              <a:rPr lang="en-IN" sz="4000" b="1" dirty="0">
                <a:latin typeface="Arial" panose="020B0604020202020204" pitchFamily="34" charset="0"/>
                <a:cs typeface="Arial" panose="020B0604020202020204" pitchFamily="34" charset="0"/>
              </a:rPr>
              <a:t>IBM University Engagement </a:t>
            </a:r>
            <a:br>
              <a:rPr lang="en-IN" sz="4000" b="1" dirty="0">
                <a:latin typeface="Arial" panose="020B0604020202020204" pitchFamily="34" charset="0"/>
                <a:cs typeface="Arial" panose="020B0604020202020204" pitchFamily="34" charset="0"/>
              </a:rPr>
            </a:br>
            <a:r>
              <a:rPr lang="en-IN" sz="4000" b="1" dirty="0">
                <a:latin typeface="Arial" panose="020B0604020202020204" pitchFamily="34" charset="0"/>
                <a:cs typeface="Arial" panose="020B0604020202020204" pitchFamily="34" charset="0"/>
              </a:rPr>
              <a:t>Project Submission</a:t>
            </a:r>
            <a:endParaRPr lang="en-IN"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0725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ED6CEB-33E4-A603-689C-920780053B56}"/>
              </a:ext>
            </a:extLst>
          </p:cNvPr>
          <p:cNvGraphicFramePr>
            <a:graphicFrameLocks noGrp="1"/>
          </p:cNvGraphicFramePr>
          <p:nvPr>
            <p:ph idx="1"/>
            <p:extLst>
              <p:ext uri="{D42A27DB-BD31-4B8C-83A1-F6EECF244321}">
                <p14:modId xmlns:p14="http://schemas.microsoft.com/office/powerpoint/2010/main" val="1978928274"/>
              </p:ext>
            </p:extLst>
          </p:nvPr>
        </p:nvGraphicFramePr>
        <p:xfrm>
          <a:off x="772055" y="2875175"/>
          <a:ext cx="11011448" cy="3007151"/>
        </p:xfrm>
        <a:graphic>
          <a:graphicData uri="http://schemas.openxmlformats.org/drawingml/2006/table">
            <a:tbl>
              <a:tblPr/>
              <a:tblGrid>
                <a:gridCol w="2418506">
                  <a:extLst>
                    <a:ext uri="{9D8B030D-6E8A-4147-A177-3AD203B41FA5}">
                      <a16:colId xmlns:a16="http://schemas.microsoft.com/office/drawing/2014/main" val="599651568"/>
                    </a:ext>
                  </a:extLst>
                </a:gridCol>
                <a:gridCol w="2864314">
                  <a:extLst>
                    <a:ext uri="{9D8B030D-6E8A-4147-A177-3AD203B41FA5}">
                      <a16:colId xmlns:a16="http://schemas.microsoft.com/office/drawing/2014/main" val="3017089598"/>
                    </a:ext>
                  </a:extLst>
                </a:gridCol>
                <a:gridCol w="2864314">
                  <a:extLst>
                    <a:ext uri="{9D8B030D-6E8A-4147-A177-3AD203B41FA5}">
                      <a16:colId xmlns:a16="http://schemas.microsoft.com/office/drawing/2014/main" val="2297323524"/>
                    </a:ext>
                  </a:extLst>
                </a:gridCol>
                <a:gridCol w="2864314">
                  <a:extLst>
                    <a:ext uri="{9D8B030D-6E8A-4147-A177-3AD203B41FA5}">
                      <a16:colId xmlns:a16="http://schemas.microsoft.com/office/drawing/2014/main" val="3465022011"/>
                    </a:ext>
                  </a:extLst>
                </a:gridCol>
              </a:tblGrid>
              <a:tr h="1351229">
                <a:tc>
                  <a:txBody>
                    <a:bodyPr/>
                    <a:lstStyle/>
                    <a:p>
                      <a:pPr algn="ctr" rtl="0" fontAlgn="ctr">
                        <a:buNone/>
                      </a:pPr>
                      <a:r>
                        <a:rPr lang="en-IN" sz="1800" b="0" i="0" u="none" strike="noStrike" dirty="0">
                          <a:solidFill>
                            <a:srgbClr val="000000"/>
                          </a:solidFill>
                          <a:effectLst/>
                          <a:latin typeface="Arial" panose="020B0604020202020204" pitchFamily="34" charset="0"/>
                        </a:rPr>
                        <a:t>Student Name</a:t>
                      </a:r>
                      <a:endParaRPr lang="en-IN" dirty="0">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Recent Passport Photo</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dirty="0">
                          <a:solidFill>
                            <a:srgbClr val="000000"/>
                          </a:solidFill>
                          <a:effectLst/>
                          <a:latin typeface="Arial" panose="020B0604020202020204" pitchFamily="34" charset="0"/>
                        </a:rPr>
                        <a:t>Email ID </a:t>
                      </a:r>
                      <a:endParaRPr lang="en-IN" dirty="0">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Mobile number</a:t>
                      </a:r>
                      <a:endParaRPr lang="en-IN">
                        <a:effectLst/>
                      </a:endParaRPr>
                    </a:p>
                    <a:p>
                      <a:pPr algn="ctr" rtl="0" fontAlgn="ctr">
                        <a:buNone/>
                      </a:pPr>
                      <a:r>
                        <a:rPr lang="en-IN" sz="1800" b="0" i="0" u="none" strike="noStrike">
                          <a:solidFill>
                            <a:srgbClr val="000000"/>
                          </a:solidFill>
                          <a:effectLst/>
                          <a:latin typeface="Arial" panose="020B0604020202020204" pitchFamily="34" charset="0"/>
                        </a:rPr>
                        <a:t>[WhatsApp] </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258891065"/>
                  </a:ext>
                </a:extLst>
              </a:tr>
              <a:tr h="1655922">
                <a:tc>
                  <a:txBody>
                    <a:bodyPr/>
                    <a:lstStyle/>
                    <a:p>
                      <a:pPr fontAlgn="t">
                        <a:buNone/>
                      </a:pPr>
                      <a:r>
                        <a:rPr lang="en-IN" dirty="0">
                          <a:effectLst/>
                        </a:rPr>
                        <a:t> SAI AKSHAY KATAKAM</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katakamsaiakshay7@gmail.com</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7396193613</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extLst>
                  <a:ext uri="{0D108BD9-81ED-4DB2-BD59-A6C34878D82A}">
                    <a16:rowId xmlns:a16="http://schemas.microsoft.com/office/drawing/2014/main" val="1009664240"/>
                  </a:ext>
                </a:extLst>
              </a:tr>
            </a:tbl>
          </a:graphicData>
        </a:graphic>
      </p:graphicFrame>
      <p:sp>
        <p:nvSpPr>
          <p:cNvPr id="5" name="Rectangle 1">
            <a:extLst>
              <a:ext uri="{FF2B5EF4-FFF2-40B4-BE49-F238E27FC236}">
                <a16:creationId xmlns:a16="http://schemas.microsoft.com/office/drawing/2014/main" id="{33F0EC1E-2068-3B1F-90FC-1EBC2BCB85D4}"/>
              </a:ext>
            </a:extLst>
          </p:cNvPr>
          <p:cNvSpPr>
            <a:spLocks noGrp="1" noChangeArrowheads="1"/>
          </p:cNvSpPr>
          <p:nvPr>
            <p:ph type="title"/>
          </p:nvPr>
        </p:nvSpPr>
        <p:spPr bwMode="auto">
          <a:xfrm>
            <a:off x="772055" y="604298"/>
            <a:ext cx="7796910" cy="247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b="1" dirty="0">
                <a:latin typeface="Arial" panose="020B0604020202020204" pitchFamily="34" charset="0"/>
                <a:cs typeface="Arial" panose="020B0604020202020204" pitchFamily="34" charset="0"/>
              </a:rPr>
              <a:t>Project Tile – Fitness Buddy AI</a:t>
            </a:r>
            <a:br>
              <a:rPr lang="en-US" sz="2800" b="0" dirty="0">
                <a:effectLst/>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Domain of  Project – </a:t>
            </a:r>
            <a:r>
              <a:rPr lang="en-IN" sz="2800" b="1" dirty="0">
                <a:latin typeface="Arial" panose="020B0604020202020204" pitchFamily="34" charset="0"/>
                <a:cs typeface="Arial" panose="020B0604020202020204" pitchFamily="34" charset="0"/>
              </a:rPr>
              <a:t>Healthcare &amp; Wellness</a:t>
            </a:r>
            <a:br>
              <a:rPr lang="en-US" b="0" dirty="0">
                <a:effectLst/>
              </a:rPr>
            </a:br>
            <a:br>
              <a:rPr lang="en-US" dirty="0"/>
            </a:br>
            <a:endParaRPr lang="en-IN" dirty="0"/>
          </a:p>
        </p:txBody>
      </p:sp>
      <p:pic>
        <p:nvPicPr>
          <p:cNvPr id="7" name="Picture 6">
            <a:extLst>
              <a:ext uri="{FF2B5EF4-FFF2-40B4-BE49-F238E27FC236}">
                <a16:creationId xmlns:a16="http://schemas.microsoft.com/office/drawing/2014/main" id="{79EF6BF5-78ED-B7B9-E3AC-987D09788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5944" y="4280553"/>
            <a:ext cx="1496505" cy="1496505"/>
          </a:xfrm>
          <a:prstGeom prst="rect">
            <a:avLst/>
          </a:prstGeom>
        </p:spPr>
      </p:pic>
    </p:spTree>
    <p:extLst>
      <p:ext uri="{BB962C8B-B14F-4D97-AF65-F5344CB8AC3E}">
        <p14:creationId xmlns:p14="http://schemas.microsoft.com/office/powerpoint/2010/main" val="3318711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5623E-58DA-E6EA-F8B9-A39D34A643AB}"/>
              </a:ext>
            </a:extLst>
          </p:cNvPr>
          <p:cNvSpPr>
            <a:spLocks noGrp="1"/>
          </p:cNvSpPr>
          <p:nvPr>
            <p:ph type="title"/>
          </p:nvPr>
        </p:nvSpPr>
        <p:spPr>
          <a:xfrm>
            <a:off x="377173" y="384379"/>
            <a:ext cx="9907369" cy="954107"/>
          </a:xfrm>
        </p:spPr>
        <p:txBody>
          <a:bodyPr>
            <a:normAutofit fontScale="90000"/>
          </a:bodyPr>
          <a:lstStyle/>
          <a:p>
            <a:r>
              <a:rPr lang="en-IN" sz="3100" b="1" dirty="0">
                <a:latin typeface="Arial" panose="020B0604020202020204" pitchFamily="34" charset="0"/>
                <a:cs typeface="Arial" panose="020B0604020202020204" pitchFamily="34" charset="0"/>
              </a:rPr>
              <a:t>Problem Statement -</a:t>
            </a:r>
            <a:br>
              <a:rPr lang="en-IN" b="0" dirty="0">
                <a:effectLst/>
              </a:rPr>
            </a:br>
            <a:br>
              <a:rPr lang="en-IN" dirty="0"/>
            </a:br>
            <a:endParaRPr lang="en-IN" dirty="0"/>
          </a:p>
        </p:txBody>
      </p:sp>
      <p:sp>
        <p:nvSpPr>
          <p:cNvPr id="4" name="Rectangle 1">
            <a:extLst>
              <a:ext uri="{FF2B5EF4-FFF2-40B4-BE49-F238E27FC236}">
                <a16:creationId xmlns:a16="http://schemas.microsoft.com/office/drawing/2014/main" id="{441F7BFE-B489-845C-38BF-B1329AC04431}"/>
              </a:ext>
            </a:extLst>
          </p:cNvPr>
          <p:cNvSpPr>
            <a:spLocks noChangeArrowheads="1"/>
          </p:cNvSpPr>
          <p:nvPr/>
        </p:nvSpPr>
        <p:spPr bwMode="auto">
          <a:xfrm>
            <a:off x="377173" y="507489"/>
            <a:ext cx="55501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Problem Statement: Fitness Buddy AI Agent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11" name="Rectangle 7">
            <a:extLst>
              <a:ext uri="{FF2B5EF4-FFF2-40B4-BE49-F238E27FC236}">
                <a16:creationId xmlns:a16="http://schemas.microsoft.com/office/drawing/2014/main" id="{02922CE8-42EE-4F99-A2CC-7CA5EBA946AF}"/>
              </a:ext>
            </a:extLst>
          </p:cNvPr>
          <p:cNvSpPr>
            <a:spLocks noChangeArrowheads="1"/>
          </p:cNvSpPr>
          <p:nvPr/>
        </p:nvSpPr>
        <p:spPr bwMode="auto">
          <a:xfrm>
            <a:off x="377173" y="1049100"/>
            <a:ext cx="2552290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The Challenge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Maintaining a healthy lifestyle is challenging due to busy schedules, lack of personalized fitness </a:t>
            </a: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guidance, inconsistent motivation, and limited access to affordable fitness coaching.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Many people struggle to choose suitable workouts, follow balanced nutrition, and build healthy habits.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The Objective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Fitness Buddy</a:t>
            </a:r>
            <a:r>
              <a:rPr kumimoji="0" lang="en-US" altLang="en-US" sz="2000" b="0" i="0" u="none" strike="noStrike" cap="none" normalizeH="0" baseline="0" dirty="0">
                <a:ln>
                  <a:noFill/>
                </a:ln>
                <a:solidFill>
                  <a:schemeClr val="tx1"/>
                </a:solidFill>
                <a:effectLst/>
                <a:latin typeface="Arial" panose="020B0604020202020204" pitchFamily="34" charset="0"/>
              </a:rPr>
              <a:t> that provides personalized fitness guidance through natural conversations.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solution should: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Recommend personalized home workout plans.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Suggest healthy meals and hydration tips.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Provide daily motivation and habit-building support.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Retrieve trusted fitness and nutrition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Track user progress and provide feedback.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Multi-Agent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Workout Planning Agent</a:t>
            </a:r>
            <a:r>
              <a:rPr kumimoji="0" lang="en-US" altLang="en-US" sz="2000" b="0" i="0" u="none" strike="noStrike" cap="none" normalizeH="0" baseline="0" dirty="0">
                <a:ln>
                  <a:noFill/>
                </a:ln>
                <a:solidFill>
                  <a:schemeClr val="tx1"/>
                </a:solidFill>
                <a:effectLst/>
                <a:latin typeface="Arial" panose="020B0604020202020204" pitchFamily="34" charset="0"/>
              </a:rPr>
              <a:t> – Personalized exercise routines.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Nutrition Guidance Agent</a:t>
            </a:r>
            <a:r>
              <a:rPr kumimoji="0" lang="en-US" altLang="en-US" sz="2000" b="0" i="0" u="none" strike="noStrike" cap="none" normalizeH="0" baseline="0" dirty="0">
                <a:ln>
                  <a:noFill/>
                </a:ln>
                <a:solidFill>
                  <a:schemeClr val="tx1"/>
                </a:solidFill>
                <a:effectLst/>
                <a:latin typeface="Arial" panose="020B0604020202020204" pitchFamily="34" charset="0"/>
              </a:rPr>
              <a:t> – Meal and nutrition suggestions.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Motivation Coach Agent</a:t>
            </a:r>
            <a:r>
              <a:rPr kumimoji="0" lang="en-US" altLang="en-US" sz="2000" b="0" i="0" u="none" strike="noStrike" cap="none" normalizeH="0" baseline="0" dirty="0">
                <a:ln>
                  <a:noFill/>
                </a:ln>
                <a:solidFill>
                  <a:schemeClr val="tx1"/>
                </a:solidFill>
                <a:effectLst/>
                <a:latin typeface="Arial" panose="020B0604020202020204" pitchFamily="34" charset="0"/>
              </a:rPr>
              <a:t> – Daily motivation and consistency tips.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Health Advisory Agent</a:t>
            </a:r>
            <a:r>
              <a:rPr kumimoji="0" lang="en-US" altLang="en-US" sz="2000" b="0" i="0" u="none" strike="noStrike" cap="none" normalizeH="0" baseline="0" dirty="0">
                <a:ln>
                  <a:noFill/>
                </a:ln>
                <a:solidFill>
                  <a:schemeClr val="tx1"/>
                </a:solidFill>
                <a:effectLst/>
                <a:latin typeface="Arial" panose="020B0604020202020204" pitchFamily="34" charset="0"/>
              </a:rPr>
              <a:t> – Safe fitness and wellness guidance.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0870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2256-B928-8737-9365-4D8DA13FFA1D}"/>
              </a:ext>
            </a:extLst>
          </p:cNvPr>
          <p:cNvSpPr>
            <a:spLocks noGrp="1"/>
          </p:cNvSpPr>
          <p:nvPr>
            <p:ph type="title"/>
          </p:nvPr>
        </p:nvSpPr>
        <p:spPr>
          <a:xfrm>
            <a:off x="602528" y="101175"/>
            <a:ext cx="9917784" cy="813225"/>
          </a:xfrm>
        </p:spPr>
        <p:txBody>
          <a:bodyPr>
            <a:normAutofit/>
          </a:bodyPr>
          <a:lstStyle/>
          <a:p>
            <a:r>
              <a:rPr lang="en-US" sz="2800" b="1" dirty="0">
                <a:latin typeface="Arial" panose="020B0604020202020204" pitchFamily="34" charset="0"/>
                <a:cs typeface="Arial" panose="020B0604020202020204" pitchFamily="34" charset="0"/>
              </a:rPr>
              <a:t>Proposed Solution:</a:t>
            </a:r>
            <a:endParaRPr lang="en-IN" sz="2800" dirty="0"/>
          </a:p>
        </p:txBody>
      </p:sp>
      <p:sp>
        <p:nvSpPr>
          <p:cNvPr id="3" name="Content Placeholder 2">
            <a:extLst>
              <a:ext uri="{FF2B5EF4-FFF2-40B4-BE49-F238E27FC236}">
                <a16:creationId xmlns:a16="http://schemas.microsoft.com/office/drawing/2014/main" id="{9A63324A-0985-A204-40DE-F8F9B26B0CBA}"/>
              </a:ext>
            </a:extLst>
          </p:cNvPr>
          <p:cNvSpPr>
            <a:spLocks noGrp="1"/>
          </p:cNvSpPr>
          <p:nvPr>
            <p:ph idx="1"/>
          </p:nvPr>
        </p:nvSpPr>
        <p:spPr>
          <a:xfrm>
            <a:off x="602528" y="914400"/>
            <a:ext cx="11162123" cy="6259398"/>
          </a:xfrm>
        </p:spPr>
        <p:txBody>
          <a:bodyPr>
            <a:normAutofit fontScale="25000" lnSpcReduction="20000"/>
          </a:bodyPr>
          <a:lstStyle/>
          <a:p>
            <a:pPr marL="0" indent="0">
              <a:buNone/>
            </a:pPr>
            <a:r>
              <a:rPr lang="en-US" sz="8000" b="1" dirty="0">
                <a:latin typeface="Arial" panose="020B0604020202020204" pitchFamily="34" charset="0"/>
                <a:cs typeface="Arial" panose="020B0604020202020204" pitchFamily="34" charset="0"/>
              </a:rPr>
              <a:t>Proposed Solution: AI-Powered Fitness Buddy</a:t>
            </a:r>
          </a:p>
          <a:p>
            <a:r>
              <a:rPr lang="en-US" sz="8000" dirty="0">
                <a:latin typeface="Arial" panose="020B0604020202020204" pitchFamily="34" charset="0"/>
                <a:cs typeface="Arial" panose="020B0604020202020204" pitchFamily="34" charset="0"/>
              </a:rPr>
              <a:t>The proposed solution is an AI-powered Fitness Buddy built using IBM </a:t>
            </a:r>
            <a:r>
              <a:rPr lang="en-US" sz="8000" dirty="0" err="1">
                <a:latin typeface="Arial" panose="020B0604020202020204" pitchFamily="34" charset="0"/>
                <a:cs typeface="Arial" panose="020B0604020202020204" pitchFamily="34" charset="0"/>
              </a:rPr>
              <a:t>watsonx</a:t>
            </a:r>
            <a:r>
              <a:rPr lang="en-US" sz="8000" dirty="0">
                <a:latin typeface="Arial" panose="020B0604020202020204" pitchFamily="34" charset="0"/>
                <a:cs typeface="Arial" panose="020B0604020202020204" pitchFamily="34" charset="0"/>
              </a:rPr>
              <a:t> Orchestrate and IBM Granite Models to provide personalized fitness guidance through natural conversations. The system helps users achieve their health goals by offering customized workout plans, nutrition suggestions, motivation, and healthy lifestyle recommendations.</a:t>
            </a:r>
          </a:p>
          <a:p>
            <a:r>
              <a:rPr lang="en-US" sz="8000" dirty="0">
                <a:latin typeface="Arial" panose="020B0604020202020204" pitchFamily="34" charset="0"/>
                <a:cs typeface="Arial" panose="020B0604020202020204" pitchFamily="34" charset="0"/>
              </a:rPr>
              <a:t>The agent uses Granite foundation models along with a fitness knowledge base to deliver accurate and context-aware responses. It understands user inputs such as fitness goals, activity level, available workout time, and dietary preferences to generate personalized recommendations.</a:t>
            </a:r>
          </a:p>
          <a:p>
            <a:r>
              <a:rPr lang="en-US" sz="8000" dirty="0">
                <a:latin typeface="Arial" panose="020B0604020202020204" pitchFamily="34" charset="0"/>
                <a:cs typeface="Arial" panose="020B0604020202020204" pitchFamily="34" charset="0"/>
              </a:rPr>
              <a:t>The solution consists of four specialized agents:</a:t>
            </a:r>
          </a:p>
          <a:p>
            <a:pPr marL="0" indent="0">
              <a:buNone/>
            </a:pPr>
            <a:r>
              <a:rPr lang="en-US" sz="8000" b="1" dirty="0">
                <a:latin typeface="Arial" panose="020B0604020202020204" pitchFamily="34" charset="0"/>
                <a:cs typeface="Arial" panose="020B0604020202020204" pitchFamily="34" charset="0"/>
              </a:rPr>
              <a:t>Workout Planning Agent</a:t>
            </a:r>
            <a:r>
              <a:rPr lang="en-US" sz="8000" dirty="0">
                <a:latin typeface="Arial" panose="020B0604020202020204" pitchFamily="34" charset="0"/>
                <a:cs typeface="Arial" panose="020B0604020202020204" pitchFamily="34" charset="0"/>
              </a:rPr>
              <a:t> – Recommends personalized home or gym workout routines. </a:t>
            </a:r>
          </a:p>
          <a:p>
            <a:pPr marL="0" indent="0">
              <a:buNone/>
            </a:pPr>
            <a:r>
              <a:rPr lang="en-US" sz="8000" b="1" dirty="0">
                <a:latin typeface="Arial" panose="020B0604020202020204" pitchFamily="34" charset="0"/>
                <a:cs typeface="Arial" panose="020B0604020202020204" pitchFamily="34" charset="0"/>
              </a:rPr>
              <a:t>Nutrition Guidance Agent</a:t>
            </a:r>
            <a:r>
              <a:rPr lang="en-US" sz="8000" dirty="0">
                <a:latin typeface="Arial" panose="020B0604020202020204" pitchFamily="34" charset="0"/>
                <a:cs typeface="Arial" panose="020B0604020202020204" pitchFamily="34" charset="0"/>
              </a:rPr>
              <a:t> – Suggests balanced meal plans, healthy recipes, and hydration tips. </a:t>
            </a:r>
          </a:p>
          <a:p>
            <a:pPr marL="0" indent="0">
              <a:buNone/>
            </a:pPr>
            <a:r>
              <a:rPr lang="en-US" sz="8000" b="1" dirty="0">
                <a:latin typeface="Arial" panose="020B0604020202020204" pitchFamily="34" charset="0"/>
                <a:cs typeface="Arial" panose="020B0604020202020204" pitchFamily="34" charset="0"/>
              </a:rPr>
              <a:t>Motivation Coach Agent</a:t>
            </a:r>
            <a:r>
              <a:rPr lang="en-US" sz="8000" dirty="0">
                <a:latin typeface="Arial" panose="020B0604020202020204" pitchFamily="34" charset="0"/>
                <a:cs typeface="Arial" panose="020B0604020202020204" pitchFamily="34" charset="0"/>
              </a:rPr>
              <a:t> – Provides daily motivation and habit-building guidance. </a:t>
            </a:r>
          </a:p>
          <a:p>
            <a:pPr marL="0" indent="0">
              <a:buNone/>
            </a:pPr>
            <a:r>
              <a:rPr lang="en-US" sz="8000" b="1" dirty="0">
                <a:latin typeface="Arial" panose="020B0604020202020204" pitchFamily="34" charset="0"/>
                <a:cs typeface="Arial" panose="020B0604020202020204" pitchFamily="34" charset="0"/>
              </a:rPr>
              <a:t>Health Advisory Agent</a:t>
            </a:r>
            <a:r>
              <a:rPr lang="en-US" sz="8000" dirty="0">
                <a:latin typeface="Arial" panose="020B0604020202020204" pitchFamily="34" charset="0"/>
                <a:cs typeface="Arial" panose="020B0604020202020204" pitchFamily="34" charset="0"/>
              </a:rPr>
              <a:t> – Offers general wellness advice and promotes safe fitness practices. </a:t>
            </a:r>
          </a:p>
          <a:p>
            <a:endParaRPr lang="en-US" sz="8000" dirty="0">
              <a:latin typeface="Arial" panose="020B0604020202020204" pitchFamily="34" charset="0"/>
              <a:cs typeface="Arial" panose="020B0604020202020204" pitchFamily="34" charset="0"/>
            </a:endParaRPr>
          </a:p>
          <a:p>
            <a:r>
              <a:rPr lang="en-US" sz="8000" dirty="0">
                <a:latin typeface="Arial" panose="020B0604020202020204" pitchFamily="34" charset="0"/>
                <a:cs typeface="Arial" panose="020B0604020202020204" pitchFamily="34" charset="0"/>
              </a:rPr>
              <a:t>The system follows a conversational approach, making fitness guidance accessible anytime and anywhere. By combining IBM </a:t>
            </a:r>
            <a:r>
              <a:rPr lang="en-US" sz="8000" dirty="0" err="1">
                <a:latin typeface="Arial" panose="020B0604020202020204" pitchFamily="34" charset="0"/>
                <a:cs typeface="Arial" panose="020B0604020202020204" pitchFamily="34" charset="0"/>
              </a:rPr>
              <a:t>watsonx</a:t>
            </a:r>
            <a:r>
              <a:rPr lang="en-US" sz="8000" dirty="0">
                <a:latin typeface="Arial" panose="020B0604020202020204" pitchFamily="34" charset="0"/>
                <a:cs typeface="Arial" panose="020B0604020202020204" pitchFamily="34" charset="0"/>
              </a:rPr>
              <a:t> Orchestrate, Granite Models, and AI-driven personalization, Fitness Buddy acts as a smart virtual fitness coach that encourages healthier lifestyles and long-term consistency.</a:t>
            </a:r>
          </a:p>
          <a:p>
            <a:endParaRPr lang="en-IN" dirty="0"/>
          </a:p>
        </p:txBody>
      </p:sp>
    </p:spTree>
    <p:extLst>
      <p:ext uri="{BB962C8B-B14F-4D97-AF65-F5344CB8AC3E}">
        <p14:creationId xmlns:p14="http://schemas.microsoft.com/office/powerpoint/2010/main" val="3227367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60B0-7741-B7D7-DC69-89B535C7044F}"/>
              </a:ext>
            </a:extLst>
          </p:cNvPr>
          <p:cNvSpPr>
            <a:spLocks noGrp="1"/>
          </p:cNvSpPr>
          <p:nvPr>
            <p:ph type="title"/>
          </p:nvPr>
        </p:nvSpPr>
        <p:spPr/>
        <p:txBody>
          <a:bodyPr/>
          <a:lstStyle/>
          <a:p>
            <a:r>
              <a:rPr lang="en-US" sz="2800" b="1" dirty="0">
                <a:latin typeface="Arial" panose="020B0604020202020204" pitchFamily="34" charset="0"/>
                <a:cs typeface="Arial" panose="020B0604020202020204" pitchFamily="34" charset="0"/>
              </a:rPr>
              <a:t>Technology Used</a:t>
            </a:r>
            <a:br>
              <a:rPr lang="en-US" b="1" dirty="0"/>
            </a:br>
            <a:endParaRPr lang="en-IN" dirty="0"/>
          </a:p>
        </p:txBody>
      </p:sp>
      <p:sp>
        <p:nvSpPr>
          <p:cNvPr id="3" name="Content Placeholder 2">
            <a:extLst>
              <a:ext uri="{FF2B5EF4-FFF2-40B4-BE49-F238E27FC236}">
                <a16:creationId xmlns:a16="http://schemas.microsoft.com/office/drawing/2014/main" id="{7863DC4E-0288-D1F1-B292-DA8F304E2770}"/>
              </a:ext>
            </a:extLst>
          </p:cNvPr>
          <p:cNvSpPr>
            <a:spLocks noGrp="1"/>
          </p:cNvSpPr>
          <p:nvPr>
            <p:ph idx="1"/>
          </p:nvPr>
        </p:nvSpPr>
        <p:spPr>
          <a:xfrm>
            <a:off x="838200" y="1253765"/>
            <a:ext cx="10515600" cy="5882326"/>
          </a:xfrm>
        </p:spPr>
        <p:txBody>
          <a:bodyPr>
            <a:normAutofit/>
          </a:bodyPr>
          <a:lstStyle/>
          <a:p>
            <a:r>
              <a:rPr lang="en-US" sz="2000" b="1" dirty="0">
                <a:latin typeface="Arial" panose="020B0604020202020204" pitchFamily="34" charset="0"/>
                <a:cs typeface="Arial" panose="020B0604020202020204" pitchFamily="34" charset="0"/>
              </a:rPr>
              <a:t>IBM </a:t>
            </a:r>
            <a:r>
              <a:rPr lang="en-US" sz="2000" b="1" dirty="0" err="1">
                <a:latin typeface="Arial" panose="020B0604020202020204" pitchFamily="34" charset="0"/>
                <a:cs typeface="Arial" panose="020B0604020202020204" pitchFamily="34" charset="0"/>
              </a:rPr>
              <a:t>watsonx</a:t>
            </a:r>
            <a:r>
              <a:rPr lang="en-US" sz="2000" b="1" dirty="0">
                <a:latin typeface="Arial" panose="020B0604020202020204" pitchFamily="34" charset="0"/>
                <a:cs typeface="Arial" panose="020B0604020202020204" pitchFamily="34" charset="0"/>
              </a:rPr>
              <a:t> Orchestrate</a:t>
            </a:r>
            <a:r>
              <a:rPr lang="en-US" sz="2000" dirty="0">
                <a:latin typeface="Arial" panose="020B0604020202020204" pitchFamily="34" charset="0"/>
                <a:cs typeface="Arial" panose="020B0604020202020204" pitchFamily="34" charset="0"/>
              </a:rPr>
              <a:t> – Used to design and orchestrate the AI Fitness Buddy agent, manage conversations, and coordinate intelligent workflows. </a:t>
            </a:r>
          </a:p>
          <a:p>
            <a:r>
              <a:rPr lang="en-US" sz="2000" b="1" dirty="0">
                <a:latin typeface="Arial" panose="020B0604020202020204" pitchFamily="34" charset="0"/>
                <a:cs typeface="Arial" panose="020B0604020202020204" pitchFamily="34" charset="0"/>
              </a:rPr>
              <a:t>IBM Granite Model</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(e.g., granite-3-3-8b-instruct or granite-3-2-8b)</a:t>
            </a:r>
            <a:r>
              <a:rPr lang="en-US" sz="2000" dirty="0">
                <a:latin typeface="Arial" panose="020B0604020202020204" pitchFamily="34" charset="0"/>
                <a:cs typeface="Arial" panose="020B0604020202020204" pitchFamily="34" charset="0"/>
              </a:rPr>
              <a:t> – Used for natural language understanding, reasoning, personalized fitness recommendations, and conversational responses. </a:t>
            </a:r>
          </a:p>
          <a:p>
            <a:r>
              <a:rPr lang="en-US" sz="2000" b="1" dirty="0">
                <a:latin typeface="Arial" panose="020B0604020202020204" pitchFamily="34" charset="0"/>
                <a:cs typeface="Arial" panose="020B0604020202020204" pitchFamily="34" charset="0"/>
              </a:rPr>
              <a:t>IBM Cloud</a:t>
            </a:r>
            <a:r>
              <a:rPr lang="en-US" sz="2000" dirty="0">
                <a:latin typeface="Arial" panose="020B0604020202020204" pitchFamily="34" charset="0"/>
                <a:cs typeface="Arial" panose="020B0604020202020204" pitchFamily="34" charset="0"/>
              </a:rPr>
              <a:t> – Provides a secure, reliable, and scalable platform for deploying and managing the AI agent. </a:t>
            </a:r>
          </a:p>
          <a:p>
            <a:r>
              <a:rPr lang="en-US" sz="2000" b="1" dirty="0">
                <a:latin typeface="Arial" panose="020B0604020202020204" pitchFamily="34" charset="0"/>
                <a:cs typeface="Arial" panose="020B0604020202020204" pitchFamily="34" charset="0"/>
              </a:rPr>
              <a:t>Knowledge Base (RAG-Ready)</a:t>
            </a:r>
            <a:r>
              <a:rPr lang="en-US" sz="2000" dirty="0">
                <a:latin typeface="Arial" panose="020B0604020202020204" pitchFamily="34" charset="0"/>
                <a:cs typeface="Arial" panose="020B0604020202020204" pitchFamily="34" charset="0"/>
              </a:rPr>
              <a:t> – Stores fitness, workout, and nutrition information, enabling the agent to retrieve accurate and context-aware responses from trusted resources. </a:t>
            </a:r>
          </a:p>
          <a:p>
            <a:r>
              <a:rPr lang="en-US" sz="2000" b="1" dirty="0">
                <a:latin typeface="Arial" panose="020B0604020202020204" pitchFamily="34" charset="0"/>
                <a:cs typeface="Arial" panose="020B0604020202020204" pitchFamily="34" charset="0"/>
              </a:rPr>
              <a:t>Natural Language Processing (NLP)</a:t>
            </a:r>
            <a:r>
              <a:rPr lang="en-US" sz="2000" dirty="0">
                <a:latin typeface="Arial" panose="020B0604020202020204" pitchFamily="34" charset="0"/>
                <a:cs typeface="Arial" panose="020B0604020202020204" pitchFamily="34" charset="0"/>
              </a:rPr>
              <a:t> – Helps the agent understand user queries and generate human-like, context-aware responses. </a:t>
            </a:r>
          </a:p>
          <a:p>
            <a:r>
              <a:rPr lang="en-US" sz="2000" b="1" dirty="0">
                <a:latin typeface="Arial" panose="020B0604020202020204" pitchFamily="34" charset="0"/>
                <a:cs typeface="Arial" panose="020B0604020202020204" pitchFamily="34" charset="0"/>
              </a:rPr>
              <a:t>Generative AI</a:t>
            </a:r>
            <a:r>
              <a:rPr lang="en-US" sz="2000" dirty="0">
                <a:latin typeface="Arial" panose="020B0604020202020204" pitchFamily="34" charset="0"/>
                <a:cs typeface="Arial" panose="020B0604020202020204" pitchFamily="34" charset="0"/>
              </a:rPr>
              <a:t> – Powers personalized workout plans, meal suggestions, motivational guidance, and healthy lifestyle recommendations. </a:t>
            </a:r>
          </a:p>
          <a:p>
            <a:endParaRPr lang="en-IN" dirty="0"/>
          </a:p>
        </p:txBody>
      </p:sp>
    </p:spTree>
    <p:extLst>
      <p:ext uri="{BB962C8B-B14F-4D97-AF65-F5344CB8AC3E}">
        <p14:creationId xmlns:p14="http://schemas.microsoft.com/office/powerpoint/2010/main" val="2071661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777CB-2F1F-98D4-FAFC-42CE2FF566B5}"/>
              </a:ext>
            </a:extLst>
          </p:cNvPr>
          <p:cNvSpPr>
            <a:spLocks noGrp="1"/>
          </p:cNvSpPr>
          <p:nvPr>
            <p:ph type="title"/>
          </p:nvPr>
        </p:nvSpPr>
        <p:spPr>
          <a:xfrm>
            <a:off x="696798" y="1147551"/>
            <a:ext cx="9012810" cy="275898"/>
          </a:xfrm>
        </p:spPr>
        <p:txBody>
          <a:bodyPr>
            <a:normAutofit fontScale="90000"/>
          </a:bodyPr>
          <a:lstStyle/>
          <a:p>
            <a:r>
              <a:rPr lang="en-US" sz="3100" b="1" dirty="0">
                <a:latin typeface="Arial" panose="020B0604020202020204" pitchFamily="34" charset="0"/>
                <a:cs typeface="Arial" panose="020B0604020202020204" pitchFamily="34" charset="0"/>
              </a:rPr>
              <a:t>IBM </a:t>
            </a:r>
            <a:r>
              <a:rPr lang="en-US" sz="3100" b="1" dirty="0" err="1">
                <a:latin typeface="Arial" panose="020B0604020202020204" pitchFamily="34" charset="0"/>
                <a:cs typeface="Arial" panose="020B0604020202020204" pitchFamily="34" charset="0"/>
              </a:rPr>
              <a:t>watsonx</a:t>
            </a:r>
            <a:r>
              <a:rPr lang="en-US" sz="3100" b="1" dirty="0">
                <a:latin typeface="Arial" panose="020B0604020202020204" pitchFamily="34" charset="0"/>
                <a:cs typeface="Arial" panose="020B0604020202020204" pitchFamily="34" charset="0"/>
              </a:rPr>
              <a:t> Orchestrate Components Used -</a:t>
            </a:r>
            <a:br>
              <a:rPr lang="en-IN" b="0" dirty="0">
                <a:effectLst/>
              </a:rPr>
            </a:br>
            <a:br>
              <a:rPr lang="en-IN" dirty="0"/>
            </a:br>
            <a:endParaRPr lang="en-IN" dirty="0"/>
          </a:p>
        </p:txBody>
      </p:sp>
      <p:sp>
        <p:nvSpPr>
          <p:cNvPr id="3" name="Content Placeholder 2">
            <a:extLst>
              <a:ext uri="{FF2B5EF4-FFF2-40B4-BE49-F238E27FC236}">
                <a16:creationId xmlns:a16="http://schemas.microsoft.com/office/drawing/2014/main" id="{3BCF1BEC-4A2E-F494-AFCE-4B2610B56FC9}"/>
              </a:ext>
            </a:extLst>
          </p:cNvPr>
          <p:cNvSpPr>
            <a:spLocks noGrp="1"/>
          </p:cNvSpPr>
          <p:nvPr>
            <p:ph idx="1"/>
          </p:nvPr>
        </p:nvSpPr>
        <p:spPr>
          <a:xfrm>
            <a:off x="696798" y="1285500"/>
            <a:ext cx="10605940" cy="4667250"/>
          </a:xfrm>
        </p:spPr>
        <p:txBody>
          <a:bodyPr>
            <a:normAutofit/>
          </a:bodyPr>
          <a:lstStyle/>
          <a:p>
            <a:pPr marL="0" indent="0">
              <a:buNone/>
            </a:pPr>
            <a:r>
              <a:rPr lang="en-US" sz="2200" b="1" dirty="0">
                <a:latin typeface="Arial" panose="020B0604020202020204" pitchFamily="34" charset="0"/>
                <a:cs typeface="Arial" panose="020B0604020202020204" pitchFamily="34" charset="0"/>
              </a:rPr>
              <a:t>1) Chat Interface</a:t>
            </a:r>
            <a:r>
              <a:rPr lang="en-US" sz="2200" dirty="0">
                <a:latin typeface="Arial" panose="020B0604020202020204" pitchFamily="34" charset="0"/>
                <a:cs typeface="Arial" panose="020B0604020202020204" pitchFamily="34" charset="0"/>
              </a:rPr>
              <a:t> – Allows users to enter fitness-related queries, goals, and preferences through natural language conversations.</a:t>
            </a:r>
          </a:p>
          <a:p>
            <a:pPr marL="0" indent="0">
              <a:buNone/>
            </a:pPr>
            <a:r>
              <a:rPr lang="en-US" sz="2200" b="1" dirty="0">
                <a:latin typeface="Arial" panose="020B0604020202020204" pitchFamily="34" charset="0"/>
                <a:cs typeface="Arial" panose="020B0604020202020204" pitchFamily="34" charset="0"/>
              </a:rPr>
              <a:t>2) AI Agent (Fitness Buddy)</a:t>
            </a:r>
            <a:r>
              <a:rPr lang="en-US" sz="2200" dirty="0">
                <a:latin typeface="Arial" panose="020B0604020202020204" pitchFamily="34" charset="0"/>
                <a:cs typeface="Arial" panose="020B0604020202020204" pitchFamily="34" charset="0"/>
              </a:rPr>
              <a:t> – Processes user requests and coordinates responses using IBM </a:t>
            </a:r>
            <a:r>
              <a:rPr lang="en-US" sz="2200" dirty="0" err="1">
                <a:latin typeface="Arial" panose="020B0604020202020204" pitchFamily="34" charset="0"/>
                <a:cs typeface="Arial" panose="020B0604020202020204" pitchFamily="34" charset="0"/>
              </a:rPr>
              <a:t>watsonx</a:t>
            </a:r>
            <a:r>
              <a:rPr lang="en-US" sz="2200" dirty="0">
                <a:latin typeface="Arial" panose="020B0604020202020204" pitchFamily="34" charset="0"/>
                <a:cs typeface="Arial" panose="020B0604020202020204" pitchFamily="34" charset="0"/>
              </a:rPr>
              <a:t> Orchestrate.</a:t>
            </a:r>
          </a:p>
          <a:p>
            <a:pPr marL="0" indent="0">
              <a:buNone/>
            </a:pPr>
            <a:r>
              <a:rPr lang="en-US" sz="2200" b="1" dirty="0">
                <a:latin typeface="Arial" panose="020B0604020202020204" pitchFamily="34" charset="0"/>
                <a:cs typeface="Arial" panose="020B0604020202020204" pitchFamily="34" charset="0"/>
              </a:rPr>
              <a:t>3) IBM Granite Model (e.g., Granite-3-3-8B-Instruct)</a:t>
            </a:r>
            <a:r>
              <a:rPr lang="en-US" sz="2200" dirty="0">
                <a:latin typeface="Arial" panose="020B0604020202020204" pitchFamily="34" charset="0"/>
                <a:cs typeface="Arial" panose="020B0604020202020204" pitchFamily="34" charset="0"/>
              </a:rPr>
              <a:t> – Generates personalized workout plans, nutrition suggestions, and motivational guidance using natural language understanding and reasoning.</a:t>
            </a:r>
          </a:p>
          <a:p>
            <a:pPr marL="0" indent="0">
              <a:buNone/>
            </a:pPr>
            <a:r>
              <a:rPr lang="en-US" sz="2200" b="1" dirty="0">
                <a:latin typeface="Arial" panose="020B0604020202020204" pitchFamily="34" charset="0"/>
                <a:cs typeface="Arial" panose="020B0604020202020204" pitchFamily="34" charset="0"/>
              </a:rPr>
              <a:t>4) Knowledge Base</a:t>
            </a:r>
            <a:r>
              <a:rPr lang="en-US" sz="2200" dirty="0">
                <a:latin typeface="Arial" panose="020B0604020202020204" pitchFamily="34" charset="0"/>
                <a:cs typeface="Arial" panose="020B0604020202020204" pitchFamily="34" charset="0"/>
              </a:rPr>
              <a:t> – Stores fitness, workout, and nutrition information that the agent uses to provide accurate and relevant recommendations.</a:t>
            </a:r>
          </a:p>
          <a:p>
            <a:pPr marL="0" indent="0">
              <a:buNone/>
            </a:pPr>
            <a:r>
              <a:rPr lang="en-US" sz="2200" b="1" dirty="0">
                <a:latin typeface="Arial" panose="020B0604020202020204" pitchFamily="34" charset="0"/>
                <a:cs typeface="Arial" panose="020B0604020202020204" pitchFamily="34" charset="0"/>
              </a:rPr>
              <a:t>5) Agent Instructions &amp; Guidelines</a:t>
            </a:r>
            <a:r>
              <a:rPr lang="en-US" sz="2200" dirty="0">
                <a:latin typeface="Arial" panose="020B0604020202020204" pitchFamily="34" charset="0"/>
                <a:cs typeface="Arial" panose="020B0604020202020204" pitchFamily="34" charset="0"/>
              </a:rPr>
              <a:t> – Define the agent's behavior, safety rules, personalization, and response style for consistent user interactions.</a:t>
            </a:r>
          </a:p>
          <a:p>
            <a:pPr marL="0" indent="0">
              <a:buNone/>
            </a:pPr>
            <a:r>
              <a:rPr lang="en-US" sz="2200" b="1" dirty="0">
                <a:latin typeface="Arial" panose="020B0604020202020204" pitchFamily="34" charset="0"/>
                <a:cs typeface="Arial" panose="020B0604020202020204" pitchFamily="34" charset="0"/>
              </a:rPr>
              <a:t>6) Chat Output</a:t>
            </a:r>
            <a:r>
              <a:rPr lang="en-US" sz="2200" dirty="0">
                <a:latin typeface="Arial" panose="020B0604020202020204" pitchFamily="34" charset="0"/>
                <a:cs typeface="Arial" panose="020B0604020202020204" pitchFamily="34" charset="0"/>
              </a:rPr>
              <a:t> – Displays AI-generated responses, including workout routines, healthy meal suggestions, hydration tips, and motivational advice.</a:t>
            </a:r>
          </a:p>
          <a:p>
            <a:endParaRPr lang="en-IN" dirty="0"/>
          </a:p>
        </p:txBody>
      </p:sp>
    </p:spTree>
    <p:extLst>
      <p:ext uri="{BB962C8B-B14F-4D97-AF65-F5344CB8AC3E}">
        <p14:creationId xmlns:p14="http://schemas.microsoft.com/office/powerpoint/2010/main" val="309376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79EDC-8EF3-5EBE-F386-55C2D604D3FE}"/>
              </a:ext>
            </a:extLst>
          </p:cNvPr>
          <p:cNvSpPr>
            <a:spLocks noGrp="1"/>
          </p:cNvSpPr>
          <p:nvPr>
            <p:ph type="title"/>
          </p:nvPr>
        </p:nvSpPr>
        <p:spPr>
          <a:xfrm>
            <a:off x="838199" y="431113"/>
            <a:ext cx="10515600" cy="1325563"/>
          </a:xfrm>
        </p:spPr>
        <p:txBody>
          <a:bodyPr/>
          <a:lstStyle/>
          <a:p>
            <a:r>
              <a:rPr lang="en-US" sz="2800" b="1" dirty="0">
                <a:latin typeface="Arial" panose="020B0604020202020204" pitchFamily="34" charset="0"/>
                <a:cs typeface="Arial" panose="020B0604020202020204" pitchFamily="34" charset="0"/>
              </a:rPr>
              <a:t>Role of Agentic AI in the Solution</a:t>
            </a:r>
            <a:br>
              <a:rPr lang="en-US" b="1" dirty="0"/>
            </a:br>
            <a:endParaRPr lang="en-IN" dirty="0"/>
          </a:p>
        </p:txBody>
      </p:sp>
      <p:sp>
        <p:nvSpPr>
          <p:cNvPr id="3" name="Content Placeholder 2">
            <a:extLst>
              <a:ext uri="{FF2B5EF4-FFF2-40B4-BE49-F238E27FC236}">
                <a16:creationId xmlns:a16="http://schemas.microsoft.com/office/drawing/2014/main" id="{1CC7FEBA-6D35-03E6-23E2-3C636A732633}"/>
              </a:ext>
            </a:extLst>
          </p:cNvPr>
          <p:cNvSpPr>
            <a:spLocks noGrp="1"/>
          </p:cNvSpPr>
          <p:nvPr>
            <p:ph idx="1"/>
          </p:nvPr>
        </p:nvSpPr>
        <p:spPr>
          <a:xfrm>
            <a:off x="838199" y="1329179"/>
            <a:ext cx="10709635" cy="5163696"/>
          </a:xfrm>
        </p:spPr>
        <p:txBody>
          <a:bodyPr>
            <a:normAutofit/>
          </a:bodyPr>
          <a:lstStyle/>
          <a:p>
            <a:pPr marL="0" indent="0">
              <a:buNone/>
            </a:pPr>
            <a:r>
              <a:rPr lang="en-US" sz="2000" b="1" dirty="0">
                <a:latin typeface="Arial" panose="020B0604020202020204" pitchFamily="34" charset="0"/>
                <a:cs typeface="Arial" panose="020B0604020202020204" pitchFamily="34" charset="0"/>
              </a:rPr>
              <a:t>Role of Agentic AI in Fitness Buddy</a:t>
            </a:r>
          </a:p>
          <a:p>
            <a:r>
              <a:rPr lang="en-US" sz="2000" dirty="0">
                <a:latin typeface="Arial" panose="020B0604020202020204" pitchFamily="34" charset="0"/>
                <a:cs typeface="Arial" panose="020B0604020202020204" pitchFamily="34" charset="0"/>
              </a:rPr>
              <a:t>Agentic AI enables Fitness Buddy to function as an intelligent, goal-oriented virtual fitness coach rather than a simple chatbot. Powered by IBM </a:t>
            </a:r>
            <a:r>
              <a:rPr lang="en-US" sz="2000" dirty="0" err="1">
                <a:latin typeface="Arial" panose="020B0604020202020204" pitchFamily="34" charset="0"/>
                <a:cs typeface="Arial" panose="020B0604020202020204" pitchFamily="34" charset="0"/>
              </a:rPr>
              <a:t>watsonx</a:t>
            </a:r>
            <a:r>
              <a:rPr lang="en-US" sz="2000" dirty="0">
                <a:latin typeface="Arial" panose="020B0604020202020204" pitchFamily="34" charset="0"/>
                <a:cs typeface="Arial" panose="020B0604020202020204" pitchFamily="34" charset="0"/>
              </a:rPr>
              <a:t> Orchestrate and IBM Granite Models, it understands user goals, fitness levels, and preferences to deliver personalized health and fitness guidance.</a:t>
            </a:r>
          </a:p>
          <a:p>
            <a:r>
              <a:rPr lang="en-US" sz="2000" dirty="0">
                <a:latin typeface="Arial" panose="020B0604020202020204" pitchFamily="34" charset="0"/>
                <a:cs typeface="Arial" panose="020B0604020202020204" pitchFamily="34" charset="0"/>
              </a:rPr>
              <a:t>The system follows a multi-agent approach, where each specialized agent performs a specific task such as workout planning, nutrition guidance, motivation, and general wellness support. These agents collaborate to provide accurate, relevant, and personalized recommendations.</a:t>
            </a:r>
          </a:p>
          <a:p>
            <a:r>
              <a:rPr lang="en-US" sz="2000" dirty="0">
                <a:latin typeface="Arial" panose="020B0604020202020204" pitchFamily="34" charset="0"/>
                <a:cs typeface="Arial" panose="020B0604020202020204" pitchFamily="34" charset="0"/>
              </a:rPr>
              <a:t>Agentic AI provides context awareness by considering factors such as age, fitness goals, available workout time, and dietary preferences. It also supports real-time adaptation, adjusting recommendations based on user interactions and progress.</a:t>
            </a:r>
          </a:p>
          <a:p>
            <a:r>
              <a:rPr lang="en-US" sz="2000" dirty="0">
                <a:latin typeface="Arial" panose="020B0604020202020204" pitchFamily="34" charset="0"/>
                <a:cs typeface="Arial" panose="020B0604020202020204" pitchFamily="34" charset="0"/>
              </a:rPr>
              <a:t>Overall, Agentic AI makes Fitness Buddy proactive, personalized, and user-centric, helping individuals build healthier habits, stay motivated, and achieve their fitness goals through intelligent conversations.</a:t>
            </a:r>
          </a:p>
          <a:p>
            <a:endParaRPr lang="en-IN" dirty="0"/>
          </a:p>
        </p:txBody>
      </p:sp>
    </p:spTree>
    <p:extLst>
      <p:ext uri="{BB962C8B-B14F-4D97-AF65-F5344CB8AC3E}">
        <p14:creationId xmlns:p14="http://schemas.microsoft.com/office/powerpoint/2010/main" val="198526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091E-53EC-F706-9467-02EC702D49E4}"/>
              </a:ext>
            </a:extLst>
          </p:cNvPr>
          <p:cNvSpPr>
            <a:spLocks noGrp="1"/>
          </p:cNvSpPr>
          <p:nvPr>
            <p:ph type="title"/>
          </p:nvPr>
        </p:nvSpPr>
        <p:spPr>
          <a:xfrm>
            <a:off x="772211" y="553662"/>
            <a:ext cx="10515600" cy="681250"/>
          </a:xfrm>
        </p:spPr>
        <p:txBody>
          <a:bodyPr>
            <a:normAutofit fontScale="90000"/>
          </a:bodyPr>
          <a:lstStyle/>
          <a:p>
            <a:r>
              <a:rPr lang="en-US" sz="2800" b="1" dirty="0">
                <a:latin typeface="Arial" panose="020B0604020202020204" pitchFamily="34" charset="0"/>
                <a:cs typeface="Arial" panose="020B0604020202020204" pitchFamily="34" charset="0"/>
              </a:rPr>
              <a:t>Novelty and Uniqueness</a:t>
            </a:r>
            <a:br>
              <a:rPr lang="en-US" b="1" dirty="0"/>
            </a:br>
            <a:endParaRPr lang="en-IN" dirty="0"/>
          </a:p>
        </p:txBody>
      </p:sp>
      <p:sp>
        <p:nvSpPr>
          <p:cNvPr id="3" name="Content Placeholder 2">
            <a:extLst>
              <a:ext uri="{FF2B5EF4-FFF2-40B4-BE49-F238E27FC236}">
                <a16:creationId xmlns:a16="http://schemas.microsoft.com/office/drawing/2014/main" id="{EAD0812F-7017-122F-6B4A-4CF0F83A74ED}"/>
              </a:ext>
            </a:extLst>
          </p:cNvPr>
          <p:cNvSpPr>
            <a:spLocks noGrp="1"/>
          </p:cNvSpPr>
          <p:nvPr>
            <p:ph idx="1"/>
          </p:nvPr>
        </p:nvSpPr>
        <p:spPr>
          <a:xfrm>
            <a:off x="772211" y="1131217"/>
            <a:ext cx="11199829" cy="5835191"/>
          </a:xfrm>
        </p:spPr>
        <p:txBody>
          <a:bodyPr>
            <a:normAutofit fontScale="25000" lnSpcReduction="20000"/>
          </a:bodyPr>
          <a:lstStyle/>
          <a:p>
            <a:r>
              <a:rPr lang="en-US" sz="8000" dirty="0">
                <a:latin typeface="Arial" panose="020B0604020202020204" pitchFamily="34" charset="0"/>
                <a:cs typeface="Arial" panose="020B0604020202020204" pitchFamily="34" charset="0"/>
              </a:rPr>
              <a:t>The proposed Fitness Buddy stands out by combining Agentic AI, personalization, and intelligent fitness guidance into a single AI-powered virtual fitness coach.</a:t>
            </a:r>
          </a:p>
          <a:p>
            <a:r>
              <a:rPr lang="en-US" sz="8000" dirty="0">
                <a:latin typeface="Arial" panose="020B0604020202020204" pitchFamily="34" charset="0"/>
                <a:cs typeface="Arial" panose="020B0604020202020204" pitchFamily="34" charset="0"/>
              </a:rPr>
              <a:t>Multi-Agent Intelligence – Multiple specialized agents collaborate to provide workout planning, nutrition guidance, motivation, and wellness support.</a:t>
            </a:r>
          </a:p>
          <a:p>
            <a:r>
              <a:rPr lang="en-US" sz="8000" dirty="0">
                <a:latin typeface="Arial" panose="020B0604020202020204" pitchFamily="34" charset="0"/>
                <a:cs typeface="Arial" panose="020B0604020202020204" pitchFamily="34" charset="0"/>
              </a:rPr>
              <a:t>Personalized Recommendations – Generates customized workout routines and meal suggestions based on fitness goals, activity level, available time, and user preferences.</a:t>
            </a:r>
          </a:p>
          <a:p>
            <a:r>
              <a:rPr lang="en-US" sz="8000" dirty="0">
                <a:latin typeface="Arial" panose="020B0604020202020204" pitchFamily="34" charset="0"/>
                <a:cs typeface="Arial" panose="020B0604020202020204" pitchFamily="34" charset="0"/>
              </a:rPr>
              <a:t>Context-Aware Responses – Understands user inputs such as age, fitness level, dietary preferences, and available equipment to deliver relevant guidance.</a:t>
            </a:r>
          </a:p>
          <a:p>
            <a:r>
              <a:rPr lang="en-US" sz="8000" dirty="0">
                <a:latin typeface="Arial" panose="020B0604020202020204" pitchFamily="34" charset="0"/>
                <a:cs typeface="Arial" panose="020B0604020202020204" pitchFamily="34" charset="0"/>
              </a:rPr>
              <a:t>Real-Time Adaptation – Continuously adjusts recommendations based on user interactions, progress, and changing fitness goals.</a:t>
            </a:r>
          </a:p>
          <a:p>
            <a:r>
              <a:rPr lang="en-US" sz="8000" dirty="0">
                <a:latin typeface="Arial" panose="020B0604020202020204" pitchFamily="34" charset="0"/>
                <a:cs typeface="Arial" panose="020B0604020202020204" pitchFamily="34" charset="0"/>
              </a:rPr>
              <a:t>Motivation &amp; Habit Building – Encourages consistency through daily motivation, healthy habit suggestions, and wellness tips.</a:t>
            </a:r>
          </a:p>
          <a:p>
            <a:r>
              <a:rPr lang="en-US" sz="8000" dirty="0">
                <a:latin typeface="Arial" panose="020B0604020202020204" pitchFamily="34" charset="0"/>
                <a:cs typeface="Arial" panose="020B0604020202020204" pitchFamily="34" charset="0"/>
              </a:rPr>
              <a:t>Safe &amp; Reliable Guidance – Promotes safe exercise practices and healthy nutrition while encouraging users to consult healthcare professionals when necessary.</a:t>
            </a:r>
          </a:p>
          <a:p>
            <a:r>
              <a:rPr lang="en-US" sz="8000" dirty="0">
                <a:latin typeface="Arial" panose="020B0604020202020204" pitchFamily="34" charset="0"/>
                <a:cs typeface="Arial" panose="020B0604020202020204" pitchFamily="34" charset="0"/>
              </a:rPr>
              <a:t>IBM </a:t>
            </a:r>
            <a:r>
              <a:rPr lang="en-US" sz="8000" dirty="0" err="1">
                <a:latin typeface="Arial" panose="020B0604020202020204" pitchFamily="34" charset="0"/>
                <a:cs typeface="Arial" panose="020B0604020202020204" pitchFamily="34" charset="0"/>
              </a:rPr>
              <a:t>watsonx</a:t>
            </a:r>
            <a:r>
              <a:rPr lang="en-US" sz="8000" dirty="0">
                <a:latin typeface="Arial" panose="020B0604020202020204" pitchFamily="34" charset="0"/>
                <a:cs typeface="Arial" panose="020B0604020202020204" pitchFamily="34" charset="0"/>
              </a:rPr>
              <a:t> Orchestrate &amp; Granite Models – Built using IBM's AI platform to deliver scalable, intelligent, and conversational fitness assistance.</a:t>
            </a:r>
          </a:p>
          <a:p>
            <a:endParaRPr lang="en-US" sz="8000" dirty="0">
              <a:latin typeface="Arial" panose="020B0604020202020204" pitchFamily="34" charset="0"/>
              <a:cs typeface="Arial" panose="020B0604020202020204" pitchFamily="34" charset="0"/>
            </a:endParaRPr>
          </a:p>
          <a:p>
            <a:r>
              <a:rPr lang="en-US" sz="8000" dirty="0">
                <a:latin typeface="Arial" panose="020B0604020202020204" pitchFamily="34" charset="0"/>
                <a:cs typeface="Arial" panose="020B0604020202020204" pitchFamily="34" charset="0"/>
              </a:rPr>
              <a:t>This makes Fitness Buddy a smart, adaptive, and personalized AI fitness coach, helping users build healthier lifestyles through interactive and goal-oriented guidance.</a:t>
            </a:r>
          </a:p>
          <a:p>
            <a:endParaRPr lang="en-IN" dirty="0"/>
          </a:p>
        </p:txBody>
      </p:sp>
    </p:spTree>
    <p:extLst>
      <p:ext uri="{BB962C8B-B14F-4D97-AF65-F5344CB8AC3E}">
        <p14:creationId xmlns:p14="http://schemas.microsoft.com/office/powerpoint/2010/main" val="3629621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CA3E-586A-7A83-F454-073269550500}"/>
              </a:ext>
            </a:extLst>
          </p:cNvPr>
          <p:cNvSpPr>
            <a:spLocks noGrp="1"/>
          </p:cNvSpPr>
          <p:nvPr>
            <p:ph type="title"/>
          </p:nvPr>
        </p:nvSpPr>
        <p:spPr>
          <a:xfrm>
            <a:off x="838200" y="365126"/>
            <a:ext cx="8579177" cy="681250"/>
          </a:xfrm>
        </p:spPr>
        <p:txBody>
          <a:bodyPr>
            <a:normAutofit/>
          </a:bodyPr>
          <a:lstStyle/>
          <a:p>
            <a:r>
              <a:rPr lang="en-IN" sz="2800" b="1" dirty="0">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87C9468C-ABB3-356C-0E42-F89FB435887E}"/>
              </a:ext>
            </a:extLst>
          </p:cNvPr>
          <p:cNvSpPr>
            <a:spLocks noGrp="1"/>
          </p:cNvSpPr>
          <p:nvPr>
            <p:ph idx="1"/>
          </p:nvPr>
        </p:nvSpPr>
        <p:spPr>
          <a:xfrm>
            <a:off x="838200" y="1307149"/>
            <a:ext cx="10671928" cy="5103077"/>
          </a:xfrm>
        </p:spPr>
        <p:txBody>
          <a:bodyPr>
            <a:normAutofit fontScale="40000" lnSpcReduction="20000"/>
          </a:bodyPr>
          <a:lstStyle/>
          <a:p>
            <a:pPr marL="0" indent="0">
              <a:buNone/>
            </a:pPr>
            <a:r>
              <a:rPr lang="en-US" sz="5000" b="1" dirty="0">
                <a:latin typeface="Arial" panose="020B0604020202020204" pitchFamily="34" charset="0"/>
                <a:cs typeface="Arial" panose="020B0604020202020204" pitchFamily="34" charset="0"/>
              </a:rPr>
              <a:t>1. Integration with Wearable &amp; Health Devices</a:t>
            </a:r>
          </a:p>
          <a:p>
            <a:r>
              <a:rPr lang="en-US" sz="5000" dirty="0">
                <a:latin typeface="Arial" panose="020B0604020202020204" pitchFamily="34" charset="0"/>
                <a:cs typeface="Arial" panose="020B0604020202020204" pitchFamily="34" charset="0"/>
              </a:rPr>
              <a:t>The system can be integrated with smartwatches and fitness trackers (e.g., Fitbit, Apple Watch, Google Fit) to collect real-time health data such as steps, heart rate, calories burned, and sleep patterns. This will enable Fitness Buddy to provide more accurate, personalized fitness and wellness recommendations.</a:t>
            </a:r>
          </a:p>
          <a:p>
            <a:pPr marL="0" indent="0">
              <a:buNone/>
            </a:pPr>
            <a:r>
              <a:rPr lang="en-US" sz="5000" b="1" dirty="0">
                <a:latin typeface="Arial" panose="020B0604020202020204" pitchFamily="34" charset="0"/>
                <a:cs typeface="Arial" panose="020B0604020202020204" pitchFamily="34" charset="0"/>
              </a:rPr>
              <a:t>2. AI-Powered Voice Assistant &amp; Multilingual Support</a:t>
            </a:r>
          </a:p>
          <a:p>
            <a:r>
              <a:rPr lang="en-US" sz="5000" dirty="0">
                <a:latin typeface="Arial" panose="020B0604020202020204" pitchFamily="34" charset="0"/>
                <a:cs typeface="Arial" panose="020B0604020202020204" pitchFamily="34" charset="0"/>
              </a:rPr>
              <a:t>Future versions can support voice-based interactions and multiple languages, allowing users to communicate naturally in their preferred language and making the solution more accessible and user-friendly.</a:t>
            </a:r>
          </a:p>
          <a:p>
            <a:pPr marL="0" indent="0">
              <a:buNone/>
            </a:pPr>
            <a:r>
              <a:rPr lang="en-US" sz="5000" b="1" dirty="0">
                <a:latin typeface="Arial" panose="020B0604020202020204" pitchFamily="34" charset="0"/>
                <a:cs typeface="Arial" panose="020B0604020202020204" pitchFamily="34" charset="0"/>
              </a:rPr>
              <a:t>3. Progress Tracking &amp; Analytics</a:t>
            </a:r>
          </a:p>
          <a:p>
            <a:r>
              <a:rPr lang="en-US" sz="5000" dirty="0">
                <a:latin typeface="Arial" panose="020B0604020202020204" pitchFamily="34" charset="0"/>
                <a:cs typeface="Arial" panose="020B0604020202020204" pitchFamily="34" charset="0"/>
              </a:rPr>
              <a:t>A personalized dashboard can be added to monitor workout history, calories burned, hydration, weight changes, and fitness goals, helping users track their progress over time.</a:t>
            </a:r>
          </a:p>
          <a:p>
            <a:pPr marL="0" indent="0">
              <a:buNone/>
            </a:pPr>
            <a:r>
              <a:rPr lang="en-US" sz="5000" b="1" dirty="0">
                <a:latin typeface="Arial" panose="020B0604020202020204" pitchFamily="34" charset="0"/>
                <a:cs typeface="Arial" panose="020B0604020202020204" pitchFamily="34" charset="0"/>
              </a:rPr>
              <a:t>4. Smart Reminder &amp; Scheduling</a:t>
            </a:r>
          </a:p>
          <a:p>
            <a:r>
              <a:rPr lang="en-US" sz="5000" dirty="0">
                <a:latin typeface="Arial" panose="020B0604020202020204" pitchFamily="34" charset="0"/>
                <a:cs typeface="Arial" panose="020B0604020202020204" pitchFamily="34" charset="0"/>
              </a:rPr>
              <a:t>The agent can send workout reminders, meal notifications, hydration alerts, and daily motivational messages through calendar or mobile integrations to encourage consistency and healthy habits.</a:t>
            </a:r>
          </a:p>
          <a:p>
            <a:endParaRPr lang="en-IN" dirty="0"/>
          </a:p>
        </p:txBody>
      </p:sp>
    </p:spTree>
    <p:extLst>
      <p:ext uri="{BB962C8B-B14F-4D97-AF65-F5344CB8AC3E}">
        <p14:creationId xmlns:p14="http://schemas.microsoft.com/office/powerpoint/2010/main" val="780703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F9935-71D9-FD69-67C1-E10910B813B6}"/>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Certificates Earned:</a:t>
            </a:r>
            <a:endParaRPr lang="en-IN" sz="2800"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2D897681-A668-D343-8373-301FC84D06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6949" y="1495685"/>
            <a:ext cx="9975203" cy="4997190"/>
          </a:xfrm>
        </p:spPr>
      </p:pic>
    </p:spTree>
    <p:extLst>
      <p:ext uri="{BB962C8B-B14F-4D97-AF65-F5344CB8AC3E}">
        <p14:creationId xmlns:p14="http://schemas.microsoft.com/office/powerpoint/2010/main" val="2851051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BDC3D-5D0E-4919-F404-7EF3A8BB1024}"/>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Certificates Earned:</a:t>
            </a:r>
            <a:endParaRPr lang="en-IN" sz="2800" dirty="0"/>
          </a:p>
        </p:txBody>
      </p:sp>
      <p:pic>
        <p:nvPicPr>
          <p:cNvPr id="5" name="Content Placeholder 4">
            <a:extLst>
              <a:ext uri="{FF2B5EF4-FFF2-40B4-BE49-F238E27FC236}">
                <a16:creationId xmlns:a16="http://schemas.microsoft.com/office/drawing/2014/main" id="{648E42EB-364E-4D23-1E0C-9A6751E41C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9181" y="1419653"/>
            <a:ext cx="9635974" cy="5073222"/>
          </a:xfrm>
        </p:spPr>
      </p:pic>
    </p:spTree>
    <p:extLst>
      <p:ext uri="{BB962C8B-B14F-4D97-AF65-F5344CB8AC3E}">
        <p14:creationId xmlns:p14="http://schemas.microsoft.com/office/powerpoint/2010/main" val="931664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DB553-AD45-061C-AF94-92CCF8F5DDF1}"/>
              </a:ext>
            </a:extLst>
          </p:cNvPr>
          <p:cNvSpPr>
            <a:spLocks noGrp="1"/>
          </p:cNvSpPr>
          <p:nvPr>
            <p:ph type="title"/>
          </p:nvPr>
        </p:nvSpPr>
        <p:spPr>
          <a:xfrm>
            <a:off x="838200" y="227159"/>
            <a:ext cx="10515600" cy="1325563"/>
          </a:xfrm>
        </p:spPr>
        <p:txBody>
          <a:bodyPr>
            <a:normAutofit/>
          </a:bodyPr>
          <a:lstStyle/>
          <a:p>
            <a:r>
              <a:rPr lang="en-IN" sz="2800" b="1" dirty="0">
                <a:latin typeface="Arial" panose="020B0604020202020204" pitchFamily="34" charset="0"/>
                <a:cs typeface="Arial" panose="020B0604020202020204" pitchFamily="34" charset="0"/>
              </a:rPr>
              <a:t>Certificates Earned:</a:t>
            </a:r>
            <a:endParaRPr lang="en-IN" sz="2800" b="1" dirty="0"/>
          </a:p>
        </p:txBody>
      </p:sp>
      <p:pic>
        <p:nvPicPr>
          <p:cNvPr id="5" name="Content Placeholder 4">
            <a:extLst>
              <a:ext uri="{FF2B5EF4-FFF2-40B4-BE49-F238E27FC236}">
                <a16:creationId xmlns:a16="http://schemas.microsoft.com/office/drawing/2014/main" id="{61CFDA5D-15D8-9694-97CE-9103409125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4668" y="1552722"/>
            <a:ext cx="9986985" cy="5098981"/>
          </a:xfrm>
        </p:spPr>
      </p:pic>
    </p:spTree>
    <p:extLst>
      <p:ext uri="{BB962C8B-B14F-4D97-AF65-F5344CB8AC3E}">
        <p14:creationId xmlns:p14="http://schemas.microsoft.com/office/powerpoint/2010/main" val="2264463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5682-F005-79FE-6BD8-C025CD2461B8}"/>
              </a:ext>
            </a:extLst>
          </p:cNvPr>
          <p:cNvSpPr>
            <a:spLocks noGrp="1"/>
          </p:cNvSpPr>
          <p:nvPr>
            <p:ph type="title"/>
          </p:nvPr>
        </p:nvSpPr>
        <p:spPr>
          <a:xfrm>
            <a:off x="838200" y="365125"/>
            <a:ext cx="10502245" cy="5366372"/>
          </a:xfrm>
        </p:spPr>
        <p:txBody>
          <a:bodyPr>
            <a:normAutofit/>
          </a:bodyPr>
          <a:lstStyle/>
          <a:p>
            <a:br>
              <a:rPr lang="en-US" sz="2000" b="1" dirty="0">
                <a:latin typeface="Arial" panose="020B0604020202020204" pitchFamily="34" charset="0"/>
                <a:cs typeface="Arial" panose="020B0604020202020204" pitchFamily="34" charset="0"/>
              </a:rPr>
            </a:br>
            <a:r>
              <a:rPr lang="en-US" sz="2000" b="1" dirty="0" err="1">
                <a:latin typeface="Arial" panose="020B0604020202020204" pitchFamily="34" charset="0"/>
                <a:cs typeface="Arial" panose="020B0604020202020204" pitchFamily="34" charset="0"/>
              </a:rPr>
              <a:t>Behaviour</a:t>
            </a:r>
            <a:br>
              <a:rPr lang="en-US" sz="2000" b="1" dirty="0">
                <a:latin typeface="Arial" panose="020B0604020202020204" pitchFamily="34" charset="0"/>
                <a:cs typeface="Arial" panose="020B0604020202020204" pitchFamily="34" charset="0"/>
              </a:rPr>
            </a:b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You are Fitness Buddy AI, a friendly and supportive virtual fitness coach. Assist users in achieving their health and fitness goals by providing personalized workout recommendations, nutritious meal suggestions, hydration advice, healthy lifestyle tips, and daily motivation. Ask relevant questions such as age, fitness goal, activity level, available workout time, fitness experience, injuries, dietary preferences, and available equipment before generating recommendations. Provide clear, encouraging, and easy-to-follow responses. Recommend safe exercises suitable for the user's fitness level. Encourage habit-building and consistency. Never diagnose medical conditions or prescribe medications. Advise users to consult qualified healthcare professionals for medical concerns, severe pain, injuries, pregnancy-related fitness questions, or chronic health conditions.</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8109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E275B-6AE7-CAA1-1D01-EDFA26E454BC}"/>
              </a:ext>
            </a:extLst>
          </p:cNvPr>
          <p:cNvSpPr>
            <a:spLocks noGrp="1"/>
          </p:cNvSpPr>
          <p:nvPr>
            <p:ph type="title"/>
          </p:nvPr>
        </p:nvSpPr>
        <p:spPr>
          <a:xfrm>
            <a:off x="712408" y="2609358"/>
            <a:ext cx="10515600" cy="1325563"/>
          </a:xfrm>
        </p:spPr>
        <p:txBody>
          <a:bodyPr>
            <a:normAutofit/>
          </a:bodyPr>
          <a:lstStyle/>
          <a:p>
            <a:pPr algn="ctr"/>
            <a:r>
              <a:rPr lang="en-IN" sz="5000" b="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68926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1415</Words>
  <Application>Microsoft Office PowerPoint</Application>
  <PresentationFormat>Widescreen</PresentationFormat>
  <Paragraphs>89</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IBM University Engagement  Project Submission</vt:lpstr>
      <vt:lpstr>Project Tile – Fitness Buddy AI  Domain of  Project – Healthcare &amp; Wellness  </vt:lpstr>
      <vt:lpstr>Problem Statement -  </vt:lpstr>
      <vt:lpstr>Proposed Solution:</vt:lpstr>
      <vt:lpstr>Technology Used </vt:lpstr>
      <vt:lpstr>IBM watsonx Orchestrate Components Used -  </vt:lpstr>
      <vt:lpstr>Role of Agentic AI in the Solution </vt:lpstr>
      <vt:lpstr>Novelty and Uniqueness </vt:lpstr>
      <vt:lpstr>Future Scope</vt:lpstr>
      <vt:lpstr>Certificates Earned:</vt:lpstr>
      <vt:lpstr>Certificates Earned:</vt:lpstr>
      <vt:lpstr>Certificates Earned:</vt:lpstr>
      <vt:lpstr> Behaviour  You are Fitness Buddy AI, a friendly and supportive virtual fitness coach. Assist users in achieving their health and fitness goals by providing personalized workout recommendations, nutritious meal suggestions, hydration advice, healthy lifestyle tips, and daily motivation. Ask relevant questions such as age, fitness goal, activity level, available workout time, fitness experience, injuries, dietary preferences, and available equipment before generating recommendations. Provide clear, encouraging, and easy-to-follow responses. Recommend safe exercises suitable for the user's fitness level. Encourage habit-building and consistency. Never diagnose medical conditions or prescribe medications. Advise users to consult qualified healthcare professionals for medical concerns, severe pain, injuries, pregnancy-related fitness questions, or chronic health conditions.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Akshay Katakam</dc:creator>
  <cp:lastModifiedBy>Sai Akshay Katakam</cp:lastModifiedBy>
  <cp:revision>1</cp:revision>
  <dcterms:created xsi:type="dcterms:W3CDTF">2026-07-04T15:07:06Z</dcterms:created>
  <dcterms:modified xsi:type="dcterms:W3CDTF">2026-07-04T16:05:06Z</dcterms:modified>
</cp:coreProperties>
</file>